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current_ratio</c:v>
                </c:pt>
                <c:pt idx="1">
                  <c:v>quick_ratio</c:v>
                </c:pt>
                <c:pt idx="2">
                  <c:v>immediate_liquidity_ratio</c:v>
                </c:pt>
                <c:pt idx="3">
                  <c:v>cashflow_to_sales_ratio</c:v>
                </c:pt>
                <c:pt idx="4">
                  <c:v>net_profit_margin</c:v>
                </c:pt>
                <c:pt idx="5">
                  <c:v>operating_profit_margin</c:v>
                </c:pt>
                <c:pt idx="6">
                  <c:v>ebitda_ratio</c:v>
                </c:pt>
                <c:pt idx="7">
                  <c:v>roe</c:v>
                </c:pt>
                <c:pt idx="8">
                  <c:v>roa</c:v>
                </c:pt>
                <c:pt idx="9">
                  <c:v>leverage_ratio</c:v>
                </c:pt>
                <c:pt idx="10">
                  <c:v>equity_to_assets_ratio</c:v>
                </c:pt>
                <c:pt idx="11">
                  <c:v>receivables_ratio</c:v>
                </c:pt>
                <c:pt idx="12">
                  <c:v>inventory_ratio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0.8673125765340832</c:v>
                </c:pt>
                <c:pt idx="1">
                  <c:v>0.8260068483831466</c:v>
                </c:pt>
                <c:pt idx="2">
                  <c:v>0.36946686924577077</c:v>
                </c:pt>
                <c:pt idx="3">
                  <c:v>0.3024128274962599</c:v>
                </c:pt>
                <c:pt idx="4">
                  <c:v>0.23971255769943867</c:v>
                </c:pt>
                <c:pt idx="5">
                  <c:v>0.31510222870075566</c:v>
                </c:pt>
                <c:pt idx="6">
                  <c:v>0.3443707085043538</c:v>
                </c:pt>
                <c:pt idx="7">
                  <c:v>1.6459350307287095</c:v>
                </c:pt>
                <c:pt idx="8">
                  <c:v>0.33759658063455533</c:v>
                </c:pt>
                <c:pt idx="9">
                  <c:v>0.014376898437724819</c:v>
                </c:pt>
                <c:pt idx="10">
                  <c:v>0.15603594717518768</c:v>
                </c:pt>
                <c:pt idx="11">
                  <c:v>0.14478997715792377</c:v>
                </c:pt>
                <c:pt idx="12">
                  <c:v>0.03463717958469613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</c:scaling>
        <c:delete val="0"/>
        <c:axPos val="l"/>
        <c:majorGridlines>
          <c:spPr>
            <a:ln w="9525"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customers_ratio</c:v>
                </c:pt>
                <c:pt idx="1">
                  <c:v>inventory_turnover_ratio</c:v>
                </c:pt>
                <c:pt idx="2">
                  <c:v>inventory_days</c:v>
                </c:pt>
                <c:pt idx="3">
                  <c:v>payables_days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25.09783645615477</c:v>
                </c:pt>
                <c:pt idx="1">
                  <c:v>28.870710952511665</c:v>
                </c:pt>
                <c:pt idx="2">
                  <c:v>11.814018882634821</c:v>
                </c:pt>
                <c:pt idx="3">
                  <c:v>97.56421105136593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-1.98</c:v>
                </c:pt>
                <c:pt idx="2">
                  <c:v>0.42</c:v>
                </c:pt>
                <c:pt idx="3">
                  <c:v>-2.2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3.48</c:v>
                </c:pt>
                <c:pt idx="2">
                  <c:v>3.19</c:v>
                </c:pt>
                <c:pt idx="3">
                  <c:v>0.33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 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-7.24</c:v>
                </c:pt>
                <c:pt idx="2">
                  <c:v>-1.55</c:v>
                </c:pt>
                <c:pt idx="3">
                  <c:v>-4.02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Assets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</c:v>
                </c:pt>
                <c:pt idx="1">
                  <c:v>-3.4</c:v>
                </c:pt>
                <c:pt idx="2">
                  <c:v>-1.69</c:v>
                </c:pt>
                <c:pt idx="3">
                  <c:v>-1.29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 Liabilities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</c:v>
                </c:pt>
                <c:pt idx="1">
                  <c:v>-17.62</c:v>
                </c:pt>
                <c:pt idx="2">
                  <c:v>-6.57</c:v>
                </c:pt>
                <c:pt idx="3">
                  <c:v>-10.73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Free Cash Flow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0.0</c:v>
                </c:pt>
                <c:pt idx="1">
                  <c:v>-8.48</c:v>
                </c:pt>
                <c:pt idx="2">
                  <c:v>1.2</c:v>
                </c:pt>
                <c:pt idx="3">
                  <c:v>-5.11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FF0000"/>
              </a:solidFill>
            </c:spPr>
          </c:dPt>
          <c:dLbls>
            <c:txPr>
              <a:bodyPr/>
              <a:lstStyle/>
              <a:p>
                <a:pPr>
                  <a:defRPr sz="1400">
                    <a:solidFill>
                      <a:srgbClr val="00000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(%)</c:v>
                </c:pt>
              </c:strCache>
            </c:strRef>
          </c:tx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00B050"/>
              </a:solidFill>
            </c:spPr>
          </c:dPt>
          <c:dPt>
            <c:idx val="2"/>
            <c:spPr>
              <a:solidFill>
                <a:srgbClr val="00B050"/>
              </a:solidFill>
            </c:spPr>
          </c:dPt>
          <c:dPt>
            <c:idx val="3"/>
            <c:spPr>
              <a:solidFill>
                <a:srgbClr val="00B050"/>
              </a:solidFill>
            </c:spPr>
          </c:dPt>
          <c:cat>
            <c:strRef>
              <c:f>Sheet1!$A$2:$A$5</c:f>
              <c:strCache>
                <c:ptCount val="4"/>
                <c:pt idx="0">
                  <c:v>3 Days</c:v>
                </c:pt>
                <c:pt idx="1">
                  <c:v>1 Month</c:v>
                </c:pt>
                <c:pt idx="2">
                  <c:v>3 Months</c:v>
                </c:pt>
                <c:pt idx="3">
                  <c:v>1 Year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2.4</c:v>
                </c:pt>
                <c:pt idx="2">
                  <c:v>4</c:v>
                </c:pt>
                <c:pt idx="3">
                  <c:v>5.7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C9CCC50-15F3-4994-8714-66E2B92B786C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B74B488-01B3-4DD6-B88E-A6906014BE7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683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844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0193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956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650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632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215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662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1243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994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516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545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437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55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015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248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990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66393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he-I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84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F73D-2702-B389-58D9-A2BADA74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646302"/>
          </a:xfrm>
        </p:spPr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Stock Financial Analysis: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DemoTech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846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99FF"/>
                </a:solidFill>
              </a:defRPr>
            </a:pPr>
            <a:r>
              <a:t>PRESENTED BY YAIR, DAVID AND OREL</a:t>
            </a:r>
            <a:br/>
            <a:r>
              <a:t>02/05/2025</a:t>
            </a:r>
          </a:p>
        </p:txBody>
      </p:sp>
    </p:spTree>
    <p:extLst>
      <p:ext uri="{BB962C8B-B14F-4D97-AF65-F5344CB8AC3E}">
        <p14:creationId xmlns:p14="http://schemas.microsoft.com/office/powerpoint/2010/main" val="205873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B3DF-3BCB-EAA1-ECE9-C7DB0EF9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400"/>
            </a:pPr>
            <a:r>
              <a:t>Company: DemoTech Inc.</a:t>
            </a:r>
          </a:p>
          <a:p>
            <a:pPr algn="l">
              <a:lnSpc>
                <a:spcPts val="3600"/>
              </a:lnSpc>
              <a:defRPr sz="2400"/>
            </a:pPr>
            <a:r>
              <a:t>Ticker: TICK</a:t>
            </a:r>
          </a:p>
          <a:p>
            <a:pPr algn="l">
              <a:lnSpc>
                <a:spcPts val="3600"/>
              </a:lnSpc>
              <a:defRPr sz="2400"/>
            </a:pPr>
            <a:r>
              <a:t>Industry: Artificial Intelligence</a:t>
            </a:r>
          </a:p>
          <a:p>
            <a:pPr algn="l">
              <a:lnSpc>
                <a:spcPts val="3600"/>
              </a:lnSpc>
              <a:defRPr sz="2400"/>
            </a:pPr>
            <a:r>
              <a:t>Market Cap: $120 Billion</a:t>
            </a:r>
          </a:p>
          <a:p>
            <a:pPr algn="l">
              <a:lnSpc>
                <a:spcPts val="3600"/>
              </a:lnSpc>
              <a:defRPr sz="2400"/>
            </a:pPr>
            <a:r>
              <a:t>Key Business Segments:</a:t>
            </a:r>
          </a:p>
          <a:p>
            <a:pPr algn="l">
              <a:lnSpc>
                <a:spcPts val="3600"/>
              </a:lnSpc>
              <a:defRPr sz="2200"/>
            </a:pPr>
            <a:r>
              <a:t>• Develops AI chips and infrastructure</a:t>
            </a:r>
          </a:p>
          <a:p>
            <a:pPr algn="l">
              <a:lnSpc>
                <a:spcPts val="3600"/>
              </a:lnSpc>
              <a:defRPr sz="2200"/>
            </a:pPr>
            <a:r>
              <a:t>• Provides enterprise-grade ML solutions</a:t>
            </a:r>
          </a:p>
          <a:p>
            <a:pPr algn="l">
              <a:lnSpc>
                <a:spcPts val="3600"/>
              </a:lnSpc>
              <a:defRPr sz="2200"/>
            </a:pPr>
            <a:r>
              <a:t>• Partners with cloud providers for global expansion</a:t>
            </a:r>
          </a:p>
        </p:txBody>
      </p:sp>
    </p:spTree>
    <p:extLst>
      <p:ext uri="{BB962C8B-B14F-4D97-AF65-F5344CB8AC3E}">
        <p14:creationId xmlns:p14="http://schemas.microsoft.com/office/powerpoint/2010/main" val="493591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Change % Over Time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2286000"/>
          <a:ext cx="8229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Sentiment Analysis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200400" y="22860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Strengths</a:t>
            </a:r>
          </a:p>
          <a:p>
            <a:pPr algn="l">
              <a:lnSpc>
                <a:spcPts val="2400"/>
              </a:lnSpc>
              <a:defRPr sz="1600"/>
            </a:pPr>
            <a:r>
              <a:t>• Strong brand reputation and customer loyalty</a:t>
            </a:r>
            <a:br/>
            <a:r>
              <a:t>• High R&amp;D investment driving innovation</a:t>
            </a:r>
            <a:br/>
            <a:r>
              <a:t>• Diversified product portfolio</a:t>
            </a:r>
          </a:p>
          <a:p>
            <a:pPr algn="l">
              <a:spcAft>
                <a:spcPts val="800"/>
              </a:spcAft>
              <a:defRPr b="1" sz="2000"/>
            </a:pPr>
            <a:r>
              <a:t>Opportunities</a:t>
            </a:r>
          </a:p>
          <a:p>
            <a:pPr algn="l">
              <a:lnSpc>
                <a:spcPts val="2400"/>
              </a:lnSpc>
              <a:defRPr sz="1600"/>
            </a:pPr>
            <a:r>
              <a:t>• Expansion into emerging markets</a:t>
            </a:r>
            <a:br/>
            <a:r>
              <a:t>• Growing demand for AI and automation</a:t>
            </a:r>
            <a:br/>
            <a:r>
              <a:t>• Strategic partnerships and acquisitions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Weaknesses and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Weaknesses</a:t>
            </a:r>
          </a:p>
          <a:p>
            <a:pPr algn="l">
              <a:lnSpc>
                <a:spcPts val="2400"/>
              </a:lnSpc>
              <a:defRPr sz="1600"/>
            </a:pPr>
            <a:r>
              <a:t>• Dependence on a limited number of suppliers</a:t>
            </a:r>
            <a:br/>
            <a:r>
              <a:t>• High production costs in core segments</a:t>
            </a:r>
            <a:br/>
            <a:r>
              <a:t>• Limited presence in specific geographic areas</a:t>
            </a:r>
          </a:p>
          <a:p>
            <a:pPr algn="l">
              <a:spcAft>
                <a:spcPts val="800"/>
              </a:spcAft>
              <a:defRPr b="1" sz="2000"/>
            </a:pPr>
            <a:r>
              <a:t>Threats</a:t>
            </a:r>
          </a:p>
          <a:p>
            <a:pPr algn="l">
              <a:lnSpc>
                <a:spcPts val="2400"/>
              </a:lnSpc>
              <a:defRPr sz="1600"/>
            </a:pPr>
            <a:r>
              <a:t>• Intensifying competition in global markets</a:t>
            </a:r>
            <a:br/>
            <a:r>
              <a:t>• Regulatory pressures and compliance risks</a:t>
            </a:r>
            <a:br/>
            <a:r>
              <a:t>• Economic downturn affecting consumer spending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Stock Price Forecast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21031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Investment Summary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3600">
                <a:solidFill>
                  <a:srgbClr val="00B050"/>
                </a:solidFill>
              </a:defRPr>
            </a:pPr>
            <a:r>
              <a:t>Recommendation: BUY 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3000"/>
              </a:lnSpc>
              <a:defRPr sz="1600"/>
            </a:pPr>
            <a:r>
              <a:t>• Strong financial ratios and profitability margins</a:t>
            </a:r>
            <a:br/>
            <a:r>
              <a:t>• Positive sentiment dominates the market tone</a:t>
            </a:r>
            <a:br/>
            <a:r>
              <a:t>• Consistent CAGR growth across major KPIs</a:t>
            </a:r>
            <a:br/>
            <a:r>
              <a:t>• 1-Year forecast shows strong potential upside</a:t>
            </a:r>
            <a:br/>
            <a:r>
              <a:t>• SWOT analysis indicates strengths outweigh risks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</TotalTime>
  <Words>53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Century Gothic</vt:lpstr>
      <vt:lpstr>Wingdings 3</vt:lpstr>
      <vt:lpstr>Ion Boardroom</vt:lpstr>
      <vt:lpstr>Stock Financial Analysis: Apple Inc.</vt:lpstr>
      <vt:lpstr>Company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יאיר בר-יוסף</dc:creator>
  <cp:lastModifiedBy>יאיר בר-יוסף</cp:lastModifiedBy>
  <cp:revision>2</cp:revision>
  <dcterms:created xsi:type="dcterms:W3CDTF">2025-04-28T09:08:04Z</dcterms:created>
  <dcterms:modified xsi:type="dcterms:W3CDTF">2025-04-30T07:54:57Z</dcterms:modified>
</cp:coreProperties>
</file>