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current_ratio</c:v>
                </c:pt>
                <c:pt idx="1">
                  <c:v>quick_ratio</c:v>
                </c:pt>
                <c:pt idx="2">
                  <c:v>immediate_liquidity_ratio</c:v>
                </c:pt>
                <c:pt idx="3">
                  <c:v>cashflow_to_sales_ratio</c:v>
                </c:pt>
                <c:pt idx="4">
                  <c:v>net_profit_margin</c:v>
                </c:pt>
                <c:pt idx="5">
                  <c:v>operating_profit_margin</c:v>
                </c:pt>
                <c:pt idx="6">
                  <c:v>ebitda_ratio</c:v>
                </c:pt>
                <c:pt idx="7">
                  <c:v>roe</c:v>
                </c:pt>
                <c:pt idx="8">
                  <c:v>roa</c:v>
                </c:pt>
                <c:pt idx="9">
                  <c:v>equity_to_assets_ratio</c:v>
                </c:pt>
                <c:pt idx="10">
                  <c:v>inventory_ratio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1.063734806137178</c:v>
                </c:pt>
                <c:pt idx="1">
                  <c:v>0.8730542659852534</c:v>
                </c:pt>
                <c:pt idx="2">
                  <c:v>0.5640162513723939</c:v>
                </c:pt>
                <c:pt idx="3">
                  <c:v>0.1816370644508503</c:v>
                </c:pt>
                <c:pt idx="4">
                  <c:v>0.09287117197186653</c:v>
                </c:pt>
                <c:pt idx="5">
                  <c:v>0.1075194487420038</c:v>
                </c:pt>
                <c:pt idx="6">
                  <c:v>0.194079870336495</c:v>
                </c:pt>
                <c:pt idx="7">
                  <c:v>0.2071825715984194</c:v>
                </c:pt>
                <c:pt idx="8">
                  <c:v>0.10976741655384753</c:v>
                </c:pt>
                <c:pt idx="9">
                  <c:v>0.45762961398253144</c:v>
                </c:pt>
                <c:pt idx="10">
                  <c:v>0.10485828470553621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</c:scaling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customers_ratio</c:v>
                </c:pt>
                <c:pt idx="1">
                  <c:v>inventory_turnover_ratio</c:v>
                </c:pt>
                <c:pt idx="2">
                  <c:v>inventory_days</c:v>
                </c:pt>
                <c:pt idx="3">
                  <c:v>payables_days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26.333953915506964</c:v>
                </c:pt>
                <c:pt idx="1">
                  <c:v>9.536680890863389</c:v>
                </c:pt>
                <c:pt idx="2">
                  <c:v>37.77212156132006</c:v>
                </c:pt>
                <c:pt idx="3">
                  <c:v>85.735909045378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A0A0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-9.9</c:v>
                </c:pt>
                <c:pt idx="2">
                  <c:v>-10.24</c:v>
                </c:pt>
                <c:pt idx="3">
                  <c:v>-9.69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-48.65</c:v>
                </c:pt>
                <c:pt idx="3">
                  <c:v>-17.42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Operating Income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-46.27</c:v>
                </c:pt>
                <c:pt idx="2">
                  <c:v>-57.74</c:v>
                </c:pt>
                <c:pt idx="3">
                  <c:v>-28.68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Assets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-15.53</c:v>
                </c:pt>
                <c:pt idx="2">
                  <c:v>-13.95</c:v>
                </c:pt>
                <c:pt idx="3">
                  <c:v>-12.37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Total Liabilities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-8.09</c:v>
                </c:pt>
                <c:pt idx="2">
                  <c:v>-6.94</c:v>
                </c:pt>
                <c:pt idx="3">
                  <c:v>-7.44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Free Cash Flow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0.0</c:v>
                </c:pt>
                <c:pt idx="1">
                  <c:v>-2.01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8C8C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dPt>
            <c:idx val="0"/>
            <c:spPr>
              <a:solidFill>
                <a:srgbClr val="00B050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FF0000"/>
              </a:solidFill>
            </c:spPr>
          </c:dPt>
          <c:dLbls>
            <c:txPr>
              <a:bodyPr/>
              <a:lstStyle/>
              <a:p>
                <a:pPr>
                  <a:defRPr sz="1400">
                    <a:solidFill>
                      <a:srgbClr val="000000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</c:v>
                </c:pt>
                <c:pt idx="1">
                  <c:v>857</c:v>
                </c:pt>
                <c:pt idx="2">
                  <c:v>294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C9CCC50-15F3-4994-8714-66E2B92B786C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B74B488-01B3-4DD6-B88E-A6906014BE7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683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844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019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956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650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632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215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6627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1243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994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516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545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437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3553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88015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3248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990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666393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0A995F2-5AAD-4ED1-A045-2BFD143C9294}" type="datetimeFigureOut">
              <a:rPr lang="he-IL" smtClean="0"/>
              <a:t>ב'/אייר/תשפ"ה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he-I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CB13D24-C6AF-4EAD-A4BD-2F5C5E99046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784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73D-2702-B389-58D9-A2BADA74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646302"/>
          </a:xfrm>
        </p:spPr>
        <p:txBody>
          <a:bodyPr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Stock Financial Analysis: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48463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99FF"/>
                </a:solidFill>
              </a:defRPr>
            </a:pPr>
            <a:r>
              <a:t>PRESENTED BY YAIR, DAVID AND OREL</a:t>
            </a:r>
            <a:br/>
            <a:r>
              <a:t>29/06/2025</a:t>
            </a:r>
          </a:p>
        </p:txBody>
      </p:sp>
    </p:spTree>
    <p:extLst>
      <p:ext uri="{BB962C8B-B14F-4D97-AF65-F5344CB8AC3E}">
        <p14:creationId xmlns:p14="http://schemas.microsoft.com/office/powerpoint/2010/main" val="2058731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B3DF-3BCB-EAA1-ECE9-C7DB0EF9B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800"/>
            </a:pPr>
            <a:r>
              <a:t>Company: Amazon.com, Inc.</a:t>
            </a:r>
          </a:p>
          <a:p>
            <a:pPr algn="l">
              <a:lnSpc>
                <a:spcPts val="2800"/>
              </a:lnSpc>
              <a:defRPr sz="1800"/>
            </a:pPr>
            <a:r>
              <a:t>Ticker: AMZN</a:t>
            </a:r>
          </a:p>
          <a:p>
            <a:pPr algn="l">
              <a:lnSpc>
                <a:spcPts val="2800"/>
              </a:lnSpc>
              <a:defRPr sz="1800"/>
            </a:pPr>
            <a:r>
              <a:t>Industry: E-commerce and Cloud Computing</a:t>
            </a:r>
          </a:p>
          <a:p>
            <a:pPr algn="l">
              <a:lnSpc>
                <a:spcPts val="2800"/>
              </a:lnSpc>
              <a:defRPr sz="1800"/>
            </a:pPr>
            <a:r>
              <a:t>Market Cap: 2.37 T$</a:t>
            </a:r>
          </a:p>
        </p:txBody>
      </p:sp>
    </p:spTree>
    <p:extLst>
      <p:ext uri="{BB962C8B-B14F-4D97-AF65-F5344CB8AC3E}">
        <p14:creationId xmlns:p14="http://schemas.microsoft.com/office/powerpoint/2010/main" val="4935916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20116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Change %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2286000"/>
          <a:ext cx="8229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Sentiment Analysis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200400" y="22860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</TotalTime>
  <Words>53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Century Gothic</vt:lpstr>
      <vt:lpstr>Wingdings 3</vt:lpstr>
      <vt:lpstr>Ion Boardroom</vt:lpstr>
      <vt:lpstr>Stock Financial Analysis: Apple Inc.</vt:lpstr>
      <vt:lpstr>Company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יאיר בר-יוסף</dc:creator>
  <cp:lastModifiedBy>יאיר בר-יוסף</cp:lastModifiedBy>
  <cp:revision>2</cp:revision>
  <dcterms:created xsi:type="dcterms:W3CDTF">2025-04-28T09:08:04Z</dcterms:created>
  <dcterms:modified xsi:type="dcterms:W3CDTF">2025-04-30T07:54:57Z</dcterms:modified>
</cp:coreProperties>
</file>