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71" r:id="rId1"/>
  </p:sldMasterIdLst>
  <p:notesMasterIdLst>
    <p:notesMasterId r:id="rId4"/>
  </p:notesMasterIdLst>
  <p:sldIdLst>
    <p:sldId id="256" r:id="rId2"/>
    <p:sldId id="257" r:id="rId3"/>
    <p:sldId id="258" r:id="rId9"/>
    <p:sldId id="259" r:id="rId10"/>
    <p:sldId id="260" r:id="rId11"/>
    <p:sldId id="261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cat>
            <c:strRef>
              <c:f>Sheet1!$A$2:$A$12</c:f>
              <c:strCache>
                <c:ptCount val="11"/>
                <c:pt idx="0">
                  <c:v>current_ratio</c:v>
                </c:pt>
                <c:pt idx="1">
                  <c:v>quick_ratio</c:v>
                </c:pt>
                <c:pt idx="2">
                  <c:v>immediate_liquidity_ratio</c:v>
                </c:pt>
                <c:pt idx="3">
                  <c:v>cashflow_to_sales_ratio</c:v>
                </c:pt>
                <c:pt idx="4">
                  <c:v>net_profit_margin</c:v>
                </c:pt>
                <c:pt idx="5">
                  <c:v>operating_profit_margin</c:v>
                </c:pt>
                <c:pt idx="6">
                  <c:v>ebitda_ratio</c:v>
                </c:pt>
                <c:pt idx="7">
                  <c:v>roe</c:v>
                </c:pt>
                <c:pt idx="8">
                  <c:v>roa</c:v>
                </c:pt>
                <c:pt idx="9">
                  <c:v>equity_to_assets_ratio</c:v>
                </c:pt>
                <c:pt idx="10">
                  <c:v>inventory_ratio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1.063734806137178</c:v>
                </c:pt>
                <c:pt idx="1">
                  <c:v>0.8730542659852534</c:v>
                </c:pt>
                <c:pt idx="2">
                  <c:v>0.5640162513723939</c:v>
                </c:pt>
                <c:pt idx="3">
                  <c:v>0.1816370644508503</c:v>
                </c:pt>
                <c:pt idx="4">
                  <c:v>0.09287117197186653</c:v>
                </c:pt>
                <c:pt idx="5">
                  <c:v>0.1075194487420038</c:v>
                </c:pt>
                <c:pt idx="6">
                  <c:v>0.194079870336495</c:v>
                </c:pt>
                <c:pt idx="7">
                  <c:v>0.2071825715984194</c:v>
                </c:pt>
                <c:pt idx="8">
                  <c:v>0.10976741655384753</c:v>
                </c:pt>
                <c:pt idx="9">
                  <c:v>0.45762961398253144</c:v>
                </c:pt>
                <c:pt idx="10">
                  <c:v>0.10485828470553621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rgbClr val="0A0A0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.0"/>
        </c:scaling>
        <c:delete val="0"/>
        <c:axPos val="l"/>
        <c:majorGridlines>
          <c:spPr>
            <a:ln w="9525">
              <a:solidFill>
                <a:srgbClr val="C8C8C8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rgbClr val="0A0A0A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customers_ratio</c:v>
                </c:pt>
                <c:pt idx="1">
                  <c:v>inventory_turnover_ratio</c:v>
                </c:pt>
                <c:pt idx="2">
                  <c:v>inventory_days</c:v>
                </c:pt>
                <c:pt idx="3">
                  <c:v>payables_days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26.333953915506964</c:v>
                </c:pt>
                <c:pt idx="1">
                  <c:v>9.536680890863389</c:v>
                </c:pt>
                <c:pt idx="2">
                  <c:v>37.77212156132006</c:v>
                </c:pt>
                <c:pt idx="3">
                  <c:v>85.735909045378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rgbClr val="0A0A0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C8C8C8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rgbClr val="0A0A0A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-9.9</c:v>
                </c:pt>
                <c:pt idx="2">
                  <c:v>-10.24</c:v>
                </c:pt>
                <c:pt idx="3">
                  <c:v>-9.69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Net Income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-48.65</c:v>
                </c:pt>
                <c:pt idx="3">
                  <c:v>-17.42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Operating Income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-46.27</c:v>
                </c:pt>
                <c:pt idx="2">
                  <c:v>-57.74</c:v>
                </c:pt>
                <c:pt idx="3">
                  <c:v>-28.68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Total Assets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0.0</c:v>
                </c:pt>
                <c:pt idx="1">
                  <c:v>-15.53</c:v>
                </c:pt>
                <c:pt idx="2">
                  <c:v>-13.95</c:v>
                </c:pt>
                <c:pt idx="3">
                  <c:v>-12.37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Total Liabilities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0.0</c:v>
                </c:pt>
                <c:pt idx="1">
                  <c:v>-8.09</c:v>
                </c:pt>
                <c:pt idx="2">
                  <c:v>-6.94</c:v>
                </c:pt>
                <c:pt idx="3">
                  <c:v>-7.44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Free Cash Flow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strCache>
            </c: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0.0</c:v>
                </c:pt>
                <c:pt idx="1">
                  <c:v>-2.01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C8C8C8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legend>
      <c:legendPos val="r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Sentiment</c:v>
                </c:pt>
              </c:strCache>
            </c:strRef>
          </c:tx>
          <c:dPt>
            <c:idx val="0"/>
            <c:spPr>
              <a:solidFill>
                <a:srgbClr val="00B050"/>
              </a:solidFill>
            </c:spPr>
          </c:dPt>
          <c:dPt>
            <c:idx val="1"/>
            <c:spPr>
              <a:solidFill>
                <a:srgbClr val="808080"/>
              </a:solidFill>
            </c:spPr>
          </c:dPt>
          <c:dPt>
            <c:idx val="2"/>
            <c:spPr>
              <a:solidFill>
                <a:srgbClr val="FF0000"/>
              </a:solidFill>
            </c:spPr>
          </c:dPt>
          <c:dLbls>
            <c:txPr>
              <a:bodyPr/>
              <a:lstStyle/>
              <a:p>
                <a:pPr>
                  <a:defRPr sz="1400">
                    <a:solidFill>
                      <a:srgbClr val="000000"/>
                    </a:solidFill>
                  </a:defRPr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Neutral</c:v>
                </c:pt>
                <c:pt idx="2">
                  <c:v>Negative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62</c:v>
                </c:pt>
                <c:pt idx="1">
                  <c:v>46</c:v>
                </c:pt>
                <c:pt idx="2">
                  <c:v>13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2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CC9CCC50-15F3-4994-8714-66E2B92B786C}" type="datetimeFigureOut">
              <a:rPr lang="he-IL" smtClean="0"/>
              <a:t>ב'/אייר/תשפ"ה</a:t>
            </a:fld>
            <a:endParaRPr lang="he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e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3B74B488-01B3-4DD6-B88E-A6906014BE76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7368303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A0A995F2-5AAD-4ED1-A045-2BFD143C9294}" type="datetimeFigureOut">
              <a:rPr lang="he-IL" smtClean="0"/>
              <a:t>ב'/אייר/תשפ"ה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ECB13D24-C6AF-4EAD-A4BD-2F5C5E99046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68444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995F2-5AAD-4ED1-A045-2BFD143C9294}" type="datetimeFigureOut">
              <a:rPr lang="he-IL" smtClean="0"/>
              <a:t>ב'/אייר/תשפ"ה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B13D24-C6AF-4EAD-A4BD-2F5C5E99046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9301932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995F2-5AAD-4ED1-A045-2BFD143C9294}" type="datetimeFigureOut">
              <a:rPr lang="he-IL" smtClean="0"/>
              <a:t>ב'/אייר/תשפ"ה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B13D24-C6AF-4EAD-A4BD-2F5C5E99046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0395684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995F2-5AAD-4ED1-A045-2BFD143C9294}" type="datetimeFigureOut">
              <a:rPr lang="he-IL" smtClean="0"/>
              <a:t>ב'/אייר/תשפ"ה</a:t>
            </a:fld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B13D24-C6AF-4EAD-A4BD-2F5C5E99046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5665029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995F2-5AAD-4ED1-A045-2BFD143C9294}" type="datetimeFigureOut">
              <a:rPr lang="he-IL" smtClean="0"/>
              <a:t>ב'/אייר/תשפ"ה</a:t>
            </a:fld>
            <a:endParaRPr lang="he-I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B13D24-C6AF-4EAD-A4BD-2F5C5E99046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4363203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995F2-5AAD-4ED1-A045-2BFD143C9294}" type="datetimeFigureOut">
              <a:rPr lang="he-IL" smtClean="0"/>
              <a:t>ב'/אייר/תשפ"ה</a:t>
            </a:fld>
            <a:endParaRPr lang="he-I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B13D24-C6AF-4EAD-A4BD-2F5C5E99046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82152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995F2-5AAD-4ED1-A045-2BFD143C9294}" type="datetimeFigureOut">
              <a:rPr lang="he-IL" smtClean="0"/>
              <a:t>ב'/אייר/תשפ"ה</a:t>
            </a:fld>
            <a:endParaRPr lang="he-I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B13D24-C6AF-4EAD-A4BD-2F5C5E99046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266278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995F2-5AAD-4ED1-A045-2BFD143C9294}" type="datetimeFigureOut">
              <a:rPr lang="he-IL" smtClean="0"/>
              <a:t>ב'/אייר/תשפ"ה</a:t>
            </a:fld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B13D24-C6AF-4EAD-A4BD-2F5C5E99046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412435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995F2-5AAD-4ED1-A045-2BFD143C9294}" type="datetimeFigureOut">
              <a:rPr lang="he-IL" smtClean="0"/>
              <a:t>ב'/אייר/תשפ"ה</a:t>
            </a:fld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B13D24-C6AF-4EAD-A4BD-2F5C5E99046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9399411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995F2-5AAD-4ED1-A045-2BFD143C9294}" type="datetimeFigureOut">
              <a:rPr lang="he-IL" smtClean="0"/>
              <a:t>ב'/אייר/תשפ"ה</a:t>
            </a:fld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B13D24-C6AF-4EAD-A4BD-2F5C5E99046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8051644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995F2-5AAD-4ED1-A045-2BFD143C9294}" type="datetimeFigureOut">
              <a:rPr lang="he-IL" smtClean="0"/>
              <a:t>ב'/אייר/תשפ"ה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B13D24-C6AF-4EAD-A4BD-2F5C5E99046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354551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995F2-5AAD-4ED1-A045-2BFD143C9294}" type="datetimeFigureOut">
              <a:rPr lang="he-IL" smtClean="0"/>
              <a:t>ב'/אייר/תשפ"ה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B13D24-C6AF-4EAD-A4BD-2F5C5E99046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3154375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995F2-5AAD-4ED1-A045-2BFD143C9294}" type="datetimeFigureOut">
              <a:rPr lang="he-IL" smtClean="0"/>
              <a:t>ב'/אייר/תשפ"ה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B13D24-C6AF-4EAD-A4BD-2F5C5E99046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9035536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995F2-5AAD-4ED1-A045-2BFD143C9294}" type="datetimeFigureOut">
              <a:rPr lang="he-IL" smtClean="0"/>
              <a:t>ב'/אייר/תשפ"ה</a:t>
            </a:fld>
            <a:endParaRPr lang="he-I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B13D24-C6AF-4EAD-A4BD-2F5C5E99046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988015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995F2-5AAD-4ED1-A045-2BFD143C9294}" type="datetimeFigureOut">
              <a:rPr lang="he-IL" smtClean="0"/>
              <a:t>ב'/אייר/תשפ"ה</a:t>
            </a:fld>
            <a:endParaRPr lang="he-I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he-I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B13D24-C6AF-4EAD-A4BD-2F5C5E99046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05324892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A0A995F2-5AAD-4ED1-A045-2BFD143C9294}" type="datetimeFigureOut">
              <a:rPr lang="he-IL" smtClean="0"/>
              <a:t>ב'/אייר/תשפ"ה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B13D24-C6AF-4EAD-A4BD-2F5C5E99046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8899067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A0A995F2-5AAD-4ED1-A045-2BFD143C9294}" type="datetimeFigureOut">
              <a:rPr lang="he-IL" smtClean="0"/>
              <a:t>ב'/אייר/תשפ"ה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B13D24-C6AF-4EAD-A4BD-2F5C5E99046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666393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A0A995F2-5AAD-4ED1-A045-2BFD143C9294}" type="datetimeFigureOut">
              <a:rPr lang="he-IL" smtClean="0"/>
              <a:t>ב'/אייר/תשפ"ה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he-IL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ECB13D24-C6AF-4EAD-A4BD-2F5C5E99046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7678427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72" r:id="rId1"/>
    <p:sldLayoutId id="2147483973" r:id="rId2"/>
    <p:sldLayoutId id="2147483974" r:id="rId3"/>
    <p:sldLayoutId id="2147483975" r:id="rId4"/>
    <p:sldLayoutId id="2147483976" r:id="rId5"/>
    <p:sldLayoutId id="2147483977" r:id="rId6"/>
    <p:sldLayoutId id="2147483978" r:id="rId7"/>
    <p:sldLayoutId id="2147483979" r:id="rId8"/>
    <p:sldLayoutId id="2147483980" r:id="rId9"/>
    <p:sldLayoutId id="2147483981" r:id="rId10"/>
    <p:sldLayoutId id="2147483982" r:id="rId11"/>
    <p:sldLayoutId id="2147483983" r:id="rId12"/>
    <p:sldLayoutId id="2147483984" r:id="rId13"/>
    <p:sldLayoutId id="2147483985" r:id="rId14"/>
    <p:sldLayoutId id="2147483986" r:id="rId15"/>
    <p:sldLayoutId id="2147483987" r:id="rId16"/>
    <p:sldLayoutId id="2147483988" r:id="rId17"/>
  </p:sldLayoutIdLst>
  <p:txStyles>
    <p:titleStyle>
      <a:lvl1pPr algn="l" defTabSz="457200" rtl="1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rtl="1" eaLnBrk="1" hangingPunct="1">
        <a:defRPr>
          <a:solidFill>
            <a:schemeClr val="tx2"/>
          </a:solidFill>
        </a:defRPr>
      </a:lvl2pPr>
      <a:lvl3pPr rtl="1" eaLnBrk="1" hangingPunct="1">
        <a:defRPr>
          <a:solidFill>
            <a:schemeClr val="tx2"/>
          </a:solidFill>
        </a:defRPr>
      </a:lvl3pPr>
      <a:lvl4pPr rtl="1" eaLnBrk="1" hangingPunct="1">
        <a:defRPr>
          <a:solidFill>
            <a:schemeClr val="tx2"/>
          </a:solidFill>
        </a:defRPr>
      </a:lvl4pPr>
      <a:lvl5pPr rtl="1" eaLnBrk="1" hangingPunct="1">
        <a:defRPr>
          <a:solidFill>
            <a:schemeClr val="tx2"/>
          </a:solidFill>
        </a:defRPr>
      </a:lvl5pPr>
      <a:lvl6pPr rtl="1" eaLnBrk="1" hangingPunct="1">
        <a:defRPr>
          <a:solidFill>
            <a:schemeClr val="tx2"/>
          </a:solidFill>
        </a:defRPr>
      </a:lvl6pPr>
      <a:lvl7pPr rtl="1" eaLnBrk="1" hangingPunct="1">
        <a:defRPr>
          <a:solidFill>
            <a:schemeClr val="tx2"/>
          </a:solidFill>
        </a:defRPr>
      </a:lvl7pPr>
      <a:lvl8pPr rtl="1" eaLnBrk="1" hangingPunct="1">
        <a:defRPr>
          <a:solidFill>
            <a:schemeClr val="tx2"/>
          </a:solidFill>
        </a:defRPr>
      </a:lvl8pPr>
      <a:lvl9pPr rtl="1" eaLnBrk="1" hangingPunct="1">
        <a:defRPr>
          <a:solidFill>
            <a:schemeClr val="tx2"/>
          </a:solidFill>
        </a:defRPr>
      </a:lvl9pPr>
    </p:titleStyle>
    <p:bodyStyle>
      <a:lvl1pPr marL="342900" indent="-342900" algn="r" defTabSz="457200" rtl="1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r" defTabSz="457200" rtl="1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r" defTabSz="457200" rtl="1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r" defTabSz="457200" rtl="1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r" defTabSz="457200" rtl="1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r" defTabSz="457200" rtl="1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r" defTabSz="457200" rtl="1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r" defTabSz="457200" rtl="1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r" defTabSz="457200" rtl="1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BF73D-2702-B389-58D9-A2BADA74C0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7" y="1984016"/>
            <a:ext cx="7766936" cy="1646302"/>
          </a:xfrm>
        </p:spPr>
        <p:txBody>
          <a:bodyPr/>
          <a:lstStyle/>
          <a:p>
            <a:pPr algn="ctr">
              <a:defRPr sz="5000" b="1">
                <a:solidFill>
                  <a:srgbClr val="FFFFFF"/>
                </a:solidFill>
              </a:defRPr>
            </a:pPr>
            <a:r>
              <a:t>Stock Financial Analysis:</a:t>
            </a:r>
          </a:p>
          <a:p>
            <a:pPr algn="ctr">
              <a:defRPr sz="5400" b="1">
                <a:solidFill>
                  <a:srgbClr val="FFFFFF"/>
                </a:solidFill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914400" y="4846320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6699FF"/>
                </a:solidFill>
              </a:defRPr>
            </a:pPr>
            <a:r>
              <a:t>PRESENTED BY YAIR, DAVID AND OREL</a:t>
            </a:r>
            <a:br/>
            <a:r>
              <a:t>17/07/2025</a:t>
            </a:r>
          </a:p>
        </p:txBody>
      </p:sp>
    </p:spTree>
    <p:extLst>
      <p:ext uri="{BB962C8B-B14F-4D97-AF65-F5344CB8AC3E}">
        <p14:creationId xmlns:p14="http://schemas.microsoft.com/office/powerpoint/2010/main" val="2058731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0B3DF-3BCB-EAA1-ECE9-C7DB0EF9B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Company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defRPr sz="1800"/>
            </a:pPr>
            <a:r>
              <a:t>Company: Amazon.com</a:t>
            </a:r>
          </a:p>
          <a:p>
            <a:pPr algn="l">
              <a:lnSpc>
                <a:spcPts val="2800"/>
              </a:lnSpc>
              <a:defRPr sz="1800"/>
            </a:pPr>
            <a:r>
              <a:t>Ticker: AMZN</a:t>
            </a:r>
          </a:p>
          <a:p>
            <a:pPr algn="l">
              <a:lnSpc>
                <a:spcPts val="2800"/>
              </a:lnSpc>
              <a:defRPr sz="1800"/>
            </a:pPr>
            <a:r>
              <a:t>Industry: E-commerce</a:t>
            </a:r>
          </a:p>
          <a:p>
            <a:pPr algn="l">
              <a:lnSpc>
                <a:spcPts val="2800"/>
              </a:lnSpc>
              <a:defRPr sz="1800"/>
            </a:pPr>
            <a:r>
              <a:t>Market Cap: 2.37 T$</a:t>
            </a:r>
          </a:p>
        </p:txBody>
      </p:sp>
    </p:spTree>
    <p:extLst>
      <p:ext uri="{BB962C8B-B14F-4D97-AF65-F5344CB8AC3E}">
        <p14:creationId xmlns:p14="http://schemas.microsoft.com/office/powerpoint/2010/main" val="49359165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Financial Ratios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2011680"/>
          <a:ext cx="73152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Financial Ratios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2011680"/>
          <a:ext cx="73152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Financial Change % Over Time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2286000"/>
          <a:ext cx="822960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Sentiment Analysis Distribution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3200400" y="2286000"/>
          <a:ext cx="50292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Blue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47</TotalTime>
  <Words>53</Words>
  <Application>Microsoft Office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Arial</vt:lpstr>
      <vt:lpstr>Century Gothic</vt:lpstr>
      <vt:lpstr>Wingdings 3</vt:lpstr>
      <vt:lpstr>Ion Boardroom</vt:lpstr>
      <vt:lpstr>Stock Financial Analysis: Apple Inc.</vt:lpstr>
      <vt:lpstr>Company overview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יאיר בר-יוסף</dc:creator>
  <cp:lastModifiedBy>יאיר בר-יוסף</cp:lastModifiedBy>
  <cp:revision>2</cp:revision>
  <dcterms:created xsi:type="dcterms:W3CDTF">2025-04-28T09:08:04Z</dcterms:created>
  <dcterms:modified xsi:type="dcterms:W3CDTF">2025-04-30T07:54:57Z</dcterms:modified>
</cp:coreProperties>
</file>